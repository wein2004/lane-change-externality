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874519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資料分析專案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12848"/>
            <a:ext cx="10637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變換車道的外部成本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當一台車變換車道，它讓後方的車流付出多少代價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以及這個代價取決於什麼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120640"/>
            <a:ext cx="2194560" cy="3175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NGSIM 車輛軌跡 · 870 萬筆原始資料 · 2,472 次事件 · 開源可重現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專案概述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91056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一份端對端的資料分析專案，從公開軌跡資料出發，建立可重現的量測流程，並將結論轉化為可落地的服務構想。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560320"/>
            <a:ext cx="3362858" cy="251460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37744" bIns="237744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原始軌跡資料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870 萬筆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美國聯邦公路總署 NGSIM</a:t>
            </a:r>
          </a:p>
        </p:txBody>
      </p:sp>
      <p:sp>
        <p:nvSpPr>
          <p:cNvPr id="5" name="Rectangle 4"/>
          <p:cNvSpPr/>
          <p:nvPr/>
        </p:nvSpPr>
        <p:spPr>
          <a:xfrm>
            <a:off x="4414418" y="2560320"/>
            <a:ext cx="3362858" cy="251460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37744" bIns="237744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乾淨的換道事件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2,472 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經過四道過濾條件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8051596" y="2560320"/>
            <a:ext cx="3362858" cy="251460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37744" bIns="237744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配對對照組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7,591 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最近鄰配對，不重複取樣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結論：外部成本取決於當下路況，不取決於車種。這個結果推翻了專案原本的假設。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簡報架構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6479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7099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研究問題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755648"/>
            <a:ext cx="7619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從車隊管理的角度定義一個沒有人在量的成本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50008"/>
            <a:ext cx="1063721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963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414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資料來源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487168"/>
            <a:ext cx="7619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NGSIM 軌跡資料的規模、欄位與三個品質缺陷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81528"/>
            <a:ext cx="1063721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2783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1729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技術架構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7619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取得、清理、事件偵測、反事實設計與統計方法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813048"/>
            <a:ext cx="1063721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5935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044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分析結果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950208"/>
            <a:ext cx="7619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三個層次的發現與一個推翻假設的結論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544568"/>
            <a:ext cx="1063721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908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63600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商業價值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681728"/>
            <a:ext cx="7619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服務構想、市場對標與 AI 的角色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76088"/>
            <a:ext cx="1063721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42239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3675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工程品質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5413248"/>
            <a:ext cx="7619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測試、可重現性與四個資料缺陷的發現過程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007608"/>
            <a:ext cx="1063721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974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研究問題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9476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定義一個既有系統沒有在衡量的成本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問題的起點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09928"/>
            <a:ext cx="6035040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車隊管理系統評分駕駛行為，衡量的全部是</a:t>
            </a:r>
            <a:r>
              <a: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對自己車輛的風險</a:t>
            </a:r>
            <a:r>
              <a:rPr sz="16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急煞、超速、怠速、疲勞駕駛，每一項都在問「這個駕駛會不會出事」。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沒有任何一項在問「這個駕駛讓別人付出了多少」。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因為那個代價發生在駕駛的</a:t>
            </a:r>
            <a:r>
              <a:rPr sz="1500" b="1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後方</a:t>
            </a: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，他自己看不到，系統也沒有在記錄。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0920" y="1709928"/>
            <a:ext cx="4053535" cy="1563624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既有評分衡量的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急煞 · 超速 · 怠速 · 疲勞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0920" y="3529584"/>
            <a:ext cx="4053535" cy="1563624"/>
          </a:xfrm>
          <a:prstGeom prst="rect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沒有人在衡量的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我的駕駛動作，讓後方車流付出多少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三個研究問題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91056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由淺入深，每一層都需要前一層成立才有意義。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377440"/>
            <a:ext cx="3362858" cy="30632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1945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Q-A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換道到底有沒有代價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與沒有發生換道、但條件相同的時刻相比，後車是否真的付出額外的速度損失</a:t>
            </a:r>
          </a:p>
        </p:txBody>
      </p:sp>
      <p:sp>
        <p:nvSpPr>
          <p:cNvPr id="5" name="Rectangle 4"/>
          <p:cNvSpPr/>
          <p:nvPr/>
        </p:nvSpPr>
        <p:spPr>
          <a:xfrm>
            <a:off x="4414418" y="2377440"/>
            <a:ext cx="3362858" cy="30632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1945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Q-B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誰造成的代價比較大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當換道的是貨車，後車付出的代價是否高於換道的是小客車的情況</a:t>
            </a:r>
          </a:p>
        </p:txBody>
      </p:sp>
      <p:sp>
        <p:nvSpPr>
          <p:cNvPr id="6" name="Rectangle 5"/>
          <p:cNvSpPr/>
          <p:nvPr/>
        </p:nvSpPr>
        <p:spPr>
          <a:xfrm>
            <a:off x="8051596" y="2377440"/>
            <a:ext cx="3362858" cy="30632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1945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Q-C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壅塞是否放大這個差異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同一個動作在車流順暢與嚴重壅塞下，造成的代價是否不同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專案的預設假設是貨車造成的代價更大。第四節會說明資料如何推翻這個假設。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這是一個物流問題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09928"/>
            <a:ext cx="6035040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這份分析直接以</a:t>
            </a:r>
            <a:r>
              <a: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貨運車輛</a:t>
            </a:r>
            <a:r>
              <a:rPr sz="16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為對象。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NGSIM 的車種欄位可以把貨車單獨拆出來分析，物流的相關性因此寫在</a:t>
            </a:r>
            <a:r>
              <a:rPr sz="1500" b="1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資料結構</a:t>
            </a: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裡，有欄位可以驗證。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而且結論直接改變政策該長什麼樣：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若代價來自車種，對策是車輛管制；若代價來自時機，對策是</a:t>
            </a:r>
            <a:r>
              <a:rPr sz="1500" b="1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車隊排程與駕駛行為規範</a:t>
            </a: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。後者是物流營運決策。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0920" y="1709928"/>
            <a:ext cx="4053535" cy="1563624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分析對象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v_class = 3，即貨車，共 352 台、7.0 車小時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0920" y="3529584"/>
            <a:ext cx="4053535" cy="1563624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對應產業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車隊 telematics 與駕駛行為評分服務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974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資料來源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9476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公開軌跡資料的規模、欄位與已知缺陷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資料來源 NGSIM 車輛軌跡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09928"/>
            <a:ext cx="6035040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Next Generation Simulation</a:t>
            </a:r>
            <a:r>
              <a:rPr sz="16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，美國聯邦公路總署於 2005 年執行的軌跡蒐集計畫。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以架高攝影機拍攝真實高速公路車流，逐格判讀每一台車的位置，產出 </a:t>
            </a:r>
            <a:r>
              <a:rPr sz="15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每秒 10 筆</a:t>
            </a: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 的車輛軌跡。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透過美國運輸部開放資料平台取得，</a:t>
            </a:r>
            <a:r>
              <a:rPr sz="1500" b="1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不需要帳號或金鑰</a:t>
            </a: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，任何人都能重跑本專案。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授權：美國政府公共領域。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0920" y="1709928"/>
            <a:ext cx="4053535" cy="1563624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資料平台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data.transportation.gov/d/8ect-6jqj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0920" y="3529584"/>
            <a:ext cx="4053535" cy="1563624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取用方式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Socrata API，公開端點，無需驗證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資料規模與核心欄位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91056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原始資料共 25 個欄位，本專案只取分析必需的 12 個，降低傳輸與記憶體成本。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2286000"/>
          <a:ext cx="10637213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19940"/>
                <a:gridCol w="2774925"/>
                <a:gridCol w="2404935"/>
                <a:gridCol w="3237413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欄位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意義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單位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vehicle_id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車輛編號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建立軌跡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frame_id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影格編號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格 = 0.1 秒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時間軸與錄影批次判定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lane_id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車道編號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偵測換道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v_vel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速度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英尺 / 秒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量測代價的主要指標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space_headway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與前車距離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英尺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配對變數與驗證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following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正後方車輛編號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直接取得受影響的後車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v_class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車種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機車 2 小客車 3 貨車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物流切入點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following 欄位是 NGSIM 自己算好的</a:t>
            </a: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，省去自行推導跟車關係的整段工作，也避免在這一步引入誤差。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路段選擇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09928"/>
            <a:ext cx="6035040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NGSIM 共有四個路段，本專案只使用</a:t>
            </a:r>
            <a:r>
              <a: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兩個高速公路路段</a:t>
            </a:r>
            <a:r>
              <a:rPr sz="16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排除的 Lankershim 與 Peachtree 是設有號誌的市區幹道。在那裡後車減速多半源自紅燈，與前方車輛切入無關。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若納入，會把號誌造成的停等灌進「換道造成的代價」，系統性高估結論。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0920" y="1709928"/>
            <a:ext cx="4053535" cy="1563624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I-80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加州 Emeryville，約 500 公尺，4,566,387 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0920" y="3529584"/>
            <a:ext cx="4053535" cy="1563624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US-101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洛杉磯，約 640 公尺，4,802,933 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資料品質的三個缺陷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91056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公開資料集不等於乾淨資料集。這三個缺陷都不會在摘要統計上顯現。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377440"/>
            <a:ext cx="3362858" cy="30632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1945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速度雜訊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文獻已知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速度由影像位置微分而來，含高頻雜訊。本專案以 1.1 秒移動平均平滑，並完全不使用加速度欄位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4414418" y="2377440"/>
            <a:ext cx="3362858" cy="30632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1945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完全重複列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EB6834"/>
                </a:solidFill>
                <a:latin typeface="Microsoft JhengHei"/>
                <a:ea typeface="Microsoft JhengHei"/>
                <a:cs typeface="Microsoft JhengHei"/>
              </a:rPr>
              <a:t>704,000 筆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US-101 有 14.7% 的資料列是逐位元完全重複。留著會讓那些車在每個平均值裡被計算兩次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8051596" y="2377440"/>
            <a:ext cx="3362858" cy="30632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1945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車號跨批次重複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EB6834"/>
                </a:solidFill>
                <a:latin typeface="Microsoft JhengHei"/>
                <a:ea typeface="Microsoft JhengHei"/>
                <a:cs typeface="Microsoft JhengHei"/>
              </a:rPr>
              <a:t>88 個車號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每個路段是三段錄影接合而成，車號與影格編號都會重新編號，直接分組會產生不存在的換道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參考文獻：Punzo, Borzacchiello &amp; Ciuffo (2011), Transportation Research Part C。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974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技術架構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9476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從原始軌跡到一個站得住的數字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系統架構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801368"/>
            <a:ext cx="2480995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資料來源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NGSIM 公開 API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·  Socrata 端點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·  無需驗證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·  1,180 萬列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94811" y="3099816"/>
            <a:ext cx="164592" cy="146304"/>
          </a:xfrm>
          <a:prstGeom prst="rightArrow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95979" y="1801368"/>
            <a:ext cx="2480995" cy="274320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取得與清理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01 · src/ngsim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·  鍵集分頁下載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·  去重與批次切分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·  速度平滑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013551" y="3099816"/>
            <a:ext cx="164592" cy="146304"/>
          </a:xfrm>
          <a:prstGeom prst="rightArrow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4719" y="1801368"/>
            <a:ext cx="2480995" cy="274320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事件與對照組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02_detect_events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·  換道偵測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·  四道過濾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·  最近鄰配對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732291" y="3099816"/>
            <a:ext cx="164592" cy="146304"/>
          </a:xfrm>
          <a:prstGeom prst="rightArrow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33459" y="1801368"/>
            <a:ext cx="2480995" cy="274320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統計與產出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03 · 04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·  Bootstrap 區間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·  OLS 迴歸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·  圖表與結果表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37176"/>
            <a:ext cx="24809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公開資料集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5979" y="4837176"/>
            <a:ext cx="24809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data/raw  ·  126 MB Parquet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4719" y="4837176"/>
            <a:ext cx="24809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data/processed  ·  事件與對照組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3459" y="4837176"/>
            <a:ext cx="24809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outputs  ·  圖表、結果表、日誌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709160"/>
            <a:ext cx="1063721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每個階段都有獨立的輸出與日誌，任何一步都可以單獨重跑，不需要重跑整條流程。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技術堆疊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91056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刻意維持輕量：全部是標準 Python 資料科學工具，沒有自製框架，任何人都能重跑。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2286000"/>
          <a:ext cx="10637213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19940"/>
                <a:gridCol w="3329910"/>
                <a:gridCol w="5087363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層級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選用工具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承擔的工作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資料取得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requests + Socrata API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鍵集分頁下載，含重試與截斷偵測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儲存格式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Parquet + pyarrow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9.4M 筆壓縮至 126 MB，載入以秒計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資料處理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pandas + NumPy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向量化的軌跡分組、平滑與視窗運算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配對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SciPy cKDTree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標準化空間中的最近鄰配對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統計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statsmodels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OLS 搭配 HC3 異質變異穩健標準誤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視覺化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Matplotlib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色盲安全配色，全部直接標註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測試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合成軌跡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22 項已知答案的邏輯檢驗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全部相依套件列於 requirements.txt，共 7 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資料取得策略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09928"/>
            <a:ext cx="6035040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第一版以 Socrata 的 offset 分頁下載。在 1,180 萬列的資料表上，頁數越深越慢，</a:t>
            </a:r>
            <a:r>
              <a:rPr sz="1500" b="1">
                <a:solidFill>
                  <a:srgbClr val="EB6834"/>
                </a:solidFill>
                <a:latin typeface="Microsoft JhengHei"/>
                <a:ea typeface="Microsoft JhengHei"/>
                <a:cs typeface="Microsoft JhengHei"/>
              </a:rPr>
              <a:t>18 分鐘沒有產出任何檔案</a:t>
            </a:r>
            <a:r>
              <a:rPr sz="15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改為以 </a:t>
            </a:r>
            <a:r>
              <a:rPr sz="1500" b="1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vehicle_id 區間</a:t>
            </a: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分頁，資料庫可直接走索引：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實測 </a:t>
            </a:r>
            <a:r>
              <a:rPr sz="16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81 萬列 49 秒</a:t>
            </a:r>
            <a:r>
              <a:rPr sz="16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，且整個鍵範圍速度穩定。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程式另外檢查每次請求是否觸及列數上限。Socrata 觸及上限時是</a:t>
            </a:r>
            <a:r>
              <a:rPr sz="1400" b="1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安靜截斷</a:t>
            </a:r>
            <a:r>
              <a:rPr sz="14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，不會報錯，那會讓整批車輛憑空消失而輸出看似正常。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0920" y="1709928"/>
            <a:ext cx="4053535" cy="1563624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錯誤做法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$offset 深層分頁，效能隨頁數劣化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0920" y="3529584"/>
            <a:ext cx="4053535" cy="1563624"/>
          </a:xfrm>
          <a:prstGeom prst="rect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採用做法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WHERE vehicle_id &gt;= lo AND &lt; hi，走索引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處理流程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350008"/>
            <a:ext cx="1208989" cy="21488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 bIns="18288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下載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鍵集分頁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9.4M 筆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187397" y="3342132"/>
            <a:ext cx="274320" cy="164592"/>
          </a:xfrm>
          <a:prstGeom prst="rightArrow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62885" y="2350008"/>
            <a:ext cx="1208989" cy="21488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 bIns="18288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清理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去重、切批次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平滑速度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73042" y="3342132"/>
            <a:ext cx="274320" cy="164592"/>
          </a:xfrm>
          <a:prstGeom prst="rightArrow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48530" y="2350008"/>
            <a:ext cx="1208989" cy="21488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 bIns="18288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偵測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換道事件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四道過濾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58687" y="3342132"/>
            <a:ext cx="274320" cy="164592"/>
          </a:xfrm>
          <a:prstGeom prst="rightArrow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34175" y="2350008"/>
            <a:ext cx="1208989" cy="21488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 bIns="18288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配對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建立對照組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最近鄰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44332" y="3342132"/>
            <a:ext cx="274320" cy="164592"/>
          </a:xfrm>
          <a:prstGeom prst="rightArrow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19820" y="2350008"/>
            <a:ext cx="1208989" cy="21488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 bIns="18288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統計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Bootstrap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迴歸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729977" y="3342132"/>
            <a:ext cx="274320" cy="164592"/>
          </a:xfrm>
          <a:prstGeom prst="rightArrow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05465" y="2350008"/>
            <a:ext cx="1208989" cy="21488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 bIns="18288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產出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圖表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結果表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六個編號腳本依序執行，每一步寫出自己的日誌與中間產物，任何一步都可以單獨重跑。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事件偵測邏輯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09928"/>
            <a:ext cx="6035040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基本判準是同一台車的車道編號與前一格不同。但原始判準會產生大量假事件，因此加上三道過濾：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穩定性</a:t>
            </a: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 換道前後各須在同一車道維持 3 秒，擋掉判讀跳動與連續蛇行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必須有後車</a:t>
            </a: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 沒有人承受代價就沒有東西可量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只留主線車道</a:t>
            </a: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 匝道上的換道是被迫匯入，成因不同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0920" y="1709928"/>
            <a:ext cx="4053535" cy="1563624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原始換道 4,031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→ 穩定性過濾後 2,955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0920" y="3529584"/>
            <a:ext cx="4053535" cy="1563624"/>
          </a:xfrm>
          <a:prstGeom prst="rect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有後車 2,914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→ 資料完整 </a:t>
            </a: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2,531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反事實設計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92808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「換道後後車掉了 3.9 公里」本身</a:t>
            </a:r>
            <a:r>
              <a: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什麼都沒有證明</a:t>
            </a:r>
            <a:r>
              <a:rPr sz="15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。壅塞車流本來就在不停地忽快忽慢。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因此每一筆事件都對照一組</a:t>
            </a:r>
            <a:r>
              <a:rPr sz="15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沒有發生換道、但條件相同</a:t>
            </a: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的時刻：該車在整個視窗內都待在同一車道。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報告的外部成本一律取</a:t>
            </a:r>
            <a:r>
              <a: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兩組的差值</a:t>
            </a:r>
            <a:r>
              <a:rPr sz="15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。事件組的原始掉幅只是中間產物。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0760" y="1709928"/>
            <a:ext cx="5333695" cy="393192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fig1_speed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267624"/>
            <a:ext cx="5333695" cy="28165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兩條曲線在換道前完全重疊、之後才分開，這是配對有效的視覺證據，也是整份分析最有說服力的一張圖。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配對變數的選擇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91056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三個變數全部嚴格在事件發生前量測。這個選擇踩過兩次坑，每一次都改變了答案。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2286000"/>
          <a:ext cx="10637213" cy="2651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89930"/>
                <a:gridCol w="2404935"/>
                <a:gridCol w="5642348"/>
              </a:tblGrid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配對變數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意義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為什麼必要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baseline_kmh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事前速度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速度水準直接決定可能的掉幅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pre_trend_kmh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事前是加速或減速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只配速度會選到剛從堵塞加速出來的車，該組平均加速 23%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headway_pre_ft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事前車距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前方空間決定反應餘裕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headway_at_t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換道當下車距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EB68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刻意排除</a:t>
                      </a: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屬於事後變數，配它等於把要量的機制配掉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使用事後車距配對，會讓結論從 +0.76 變成 −0.35，</a:t>
            </a:r>
            <a:r>
              <a:rPr sz="1100" b="1">
                <a:solidFill>
                  <a:srgbClr val="EB6834"/>
                </a:solidFill>
                <a:latin typeface="Microsoft JhengHei"/>
                <a:ea typeface="Microsoft JhengHei"/>
                <a:cs typeface="Microsoft JhengHei"/>
              </a:rPr>
              <a:t>正負號完全相反</a:t>
            </a: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配對品質驗證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91056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配對品質需要檢查。以下用的是估計式從未看過的欄位，屬於獨立驗證。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2286000"/>
          <a:ext cx="10637213" cy="15910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37413"/>
                <a:gridCol w="2404935"/>
                <a:gridCol w="2404935"/>
                <a:gridCol w="2589930"/>
              </a:tblGrid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事前車距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換道當下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變化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換道事件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106.3 ft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63.7 ft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EB68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−42.6 ft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配對對照組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105.8 ft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102.7 ft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−3.2 ft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事件組的後車在換道瞬間失去 42.6 英尺車距，對照組只失去 3.2 英尺。這同時證明偵測到的確實是切入，且對照組確實未被干擾。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統計方法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91056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兩種方法互相檢查。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377440"/>
            <a:ext cx="3362858" cy="30632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1945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最近鄰配對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不假設函數形式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只要求拿條件相似的來比。在走走停停的車流中，速度與掉幅的關係明顯非線性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4414418" y="2377440"/>
            <a:ext cx="3362858" cy="30632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1945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Bootstrap 區間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5,000 次重抽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每一個差異都報 95% 信賴區間。固定亂數種子，結果完全可重現</a:t>
            </a:r>
          </a:p>
        </p:txBody>
      </p:sp>
      <p:sp>
        <p:nvSpPr>
          <p:cNvPr id="6" name="Rectangle 5"/>
          <p:cNvSpPr/>
          <p:nvPr/>
        </p:nvSpPr>
        <p:spPr>
          <a:xfrm>
            <a:off x="8051596" y="2377440"/>
            <a:ext cx="3362858" cy="30632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1945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OLS 迴歸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HC3 穩健標準誤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分離「貨車效應」與「貨車在哪裡換道」。壅塞以連續變數進入，避免二分法丟失變異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配對可檢查共變數平衡，迴歸可同時控制多個干擾因素，兩者結論一致。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974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分析結果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9476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三個層次的發現，與一個推翻假設的結論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結果一 換道確實有代價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92808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後車多掉的速度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000"/>
              </a:spcAft>
            </a:pPr>
            <a:r>
              <a:rPr sz="34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+0.76 km/h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95% 信賴區間 +0.44 至 +1.09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000"/>
              </a:spcAft>
            </a:pP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恢復時間延遲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000"/>
              </a:spcAft>
            </a:pPr>
            <a:r>
              <a:rPr sz="34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+0.27 秒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95% 信賴區間 +0.15 至 +0.40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0760" y="1709928"/>
            <a:ext cx="5333695" cy="393192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fig2_cost_by_reg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273" y="1709928"/>
            <a:ext cx="5144669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兩個數字都是相對於配對對照組的差值。壅塞情境下的絕對代價明顯高於車流順暢時。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結果二 貨車的代價反而更低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09928"/>
            <a:ext cx="10637215" cy="28346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fig3_truck_penal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685" y="1709928"/>
            <a:ext cx="7428325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773168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貨車切入讓後車少掉 </a:t>
            </a:r>
            <a:r>
              <a: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1.62 km/h</a:t>
            </a:r>
            <a:r>
              <a:rPr sz="15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，恢復也快 </a:t>
            </a:r>
            <a:r>
              <a: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0.98 秒</a:t>
            </a:r>
            <a:r>
              <a:rPr sz="15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貨車換道頻率本來就較低：每車小時 7.7 次，小客車 10.7 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貨車事件僅 54 筆，對比小客車 2,418 筆，因此全部報信賴區間。這個結果的價值在於它推翻了專案原本的假設，精確度本身有限。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結果三 迴歸分析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91056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原始的車種差異可能只反映貨車在什麼地方、什麼時候換道。控制之後才看得出機制。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2286000"/>
          <a:ext cx="10637214" cy="31821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51405"/>
                <a:gridCol w="2200803"/>
                <a:gridCol w="2200803"/>
                <a:gridCol w="2384203"/>
              </a:tblGrid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變數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係數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 值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判讀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是否為貨車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−1.364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0.468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不顯著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周圍車流平均速度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−0.351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9e-67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2A78D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高度顯著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後車原本速度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+0.470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1e-151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顯著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車距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−0.035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3e-24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顯著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貨車 × 車流速度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+0.057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0.406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不顯著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若機制真是「貨車又大又重」，車種係數應該撐得過控制變數。它沒有。撐過去的是路況。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3736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核心結論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9601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外部成本取決於時機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不取決於車種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34340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周圍車流每慢 1 km/h，同一個駕駛動作就多造成 0.35 km/h 的擾動。針對車種的管制瞄錯了變數，針對時機與間距的規範才是對的。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誠實的限制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91056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以下數字對本專案的結論不利，但仍然列出，因為分析的可信度來自這裡。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560320"/>
            <a:ext cx="3362858" cy="251460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37744" bIns="237744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凹陷深度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+0.76 km/h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顯著</a:t>
            </a:r>
          </a:p>
        </p:txBody>
      </p:sp>
      <p:sp>
        <p:nvSpPr>
          <p:cNvPr id="5" name="Rectangle 4"/>
          <p:cNvSpPr/>
          <p:nvPr/>
        </p:nvSpPr>
        <p:spPr>
          <a:xfrm>
            <a:off x="4414418" y="2560320"/>
            <a:ext cx="3362858" cy="251460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37744" bIns="237744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恢復時間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+0.27 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顯著</a:t>
            </a:r>
          </a:p>
        </p:txBody>
      </p:sp>
      <p:sp>
        <p:nvSpPr>
          <p:cNvPr id="6" name="Rectangle 5"/>
          <p:cNvSpPr/>
          <p:nvPr/>
        </p:nvSpPr>
        <p:spPr>
          <a:xfrm>
            <a:off x="8051596" y="2560320"/>
            <a:ext cx="3362858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37744" bIns="237744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後車淨損失時間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+0.03 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B6834"/>
                </a:solidFill>
                <a:latin typeface="Microsoft JhengHei"/>
                <a:ea typeface="Microsoft JhengHei"/>
                <a:cs typeface="Microsoft JhengHei"/>
              </a:rPr>
              <a:t>信賴區間跨過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擾動</a:t>
            </a:r>
            <a:r>
              <a:rPr sz="1100" b="1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尖銳而短暫</a:t>
            </a: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，持續時間極短。本分析</a:t>
            </a:r>
            <a:r>
              <a:rPr sz="1100" b="1">
                <a:solidFill>
                  <a:srgbClr val="EB6834"/>
                </a:solidFill>
                <a:latin typeface="Microsoft JhengHei"/>
                <a:ea typeface="Microsoft JhengHei"/>
                <a:cs typeface="Microsoft JhengHei"/>
              </a:rPr>
              <a:t>不支持</a:t>
            </a: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「一次換道讓後車損失可測量的行車時間」這種說法。擾動是否會向上游放大成連鎖壅塞，這份資料的路段只有 500 至 640 公尺，無法回答。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974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商業價值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9476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從一個統計結論到一項可販售的服務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服務構想 壅塞外部成本評分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09928"/>
            <a:ext cx="6035040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這個發現可以直接產品化為給車隊業者的</a:t>
            </a:r>
            <a:r>
              <a:rPr sz="16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Congestion Externality Score</a:t>
            </a:r>
            <a:r>
              <a:rPr sz="16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輸入是業者為了法規遵循與保險</a:t>
            </a:r>
            <a:r>
              <a:rPr sz="1500" b="1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本來就已經在蒐集</a:t>
            </a: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的 GPS 軌跡，不需要加裝任何硬體。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輸出是每位駕駛、每條路線、每個時段造成了多少對周圍車流的擾動。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導入成本低，因為資料來源已經存在，缺的只是一個沒有人做的量測方法。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0920" y="1709928"/>
            <a:ext cx="4053535" cy="1563624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輸入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既有 telematics GPS 軌跡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0920" y="3529584"/>
            <a:ext cx="4053535" cy="1563624"/>
          </a:xfrm>
          <a:prstGeom prst="rect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輸出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駕駛 × 路線 × 時段的外部成本評分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三個讓它稱得上智慧的機制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91056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自動化只是把人工流程變快。以下三點是這項服務與規則式評分的本質差異。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377440"/>
            <a:ext cx="3362858" cy="30632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1945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依情境定價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依實測路況加權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迴歸顯示周圍車流每慢 1 km/h，同一動作多造成 0.35 km/h 擾動。評分依實測路況加權每個事件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4414418" y="2377440"/>
            <a:ext cx="3362858" cy="30632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1945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以實測行為為標竿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以觀測到的行為為準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資料顯示職業駕駛造成的代價本來就低於一般小客車駕駛。目標是一個已被觀測到的標準</a:t>
            </a:r>
          </a:p>
        </p:txBody>
      </p:sp>
      <p:sp>
        <p:nvSpPr>
          <p:cNvPr id="6" name="Rectangle 5"/>
          <p:cNvSpPr/>
          <p:nvPr/>
        </p:nvSpPr>
        <p:spPr>
          <a:xfrm>
            <a:off x="8051596" y="2377440"/>
            <a:ext cx="3362858" cy="30632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1945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閉環學習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會驗證自己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輔導改變行為，改變被重新量測，模型被重新估計。服務持續學習什麼真正有效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第三點是關鍵：沒有閉環的評分系統無法證明自己有用。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市場對標與差異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91056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車隊行為評分已是成熟的產品類別，但現有產品全部衡量同一個面向。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2286000"/>
          <a:ext cx="10637214" cy="2651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74925"/>
                <a:gridCol w="5549851"/>
                <a:gridCol w="2312438"/>
              </a:tblGrid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產品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衡量對象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是否衡量外部成本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Samsara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駕駛自身風險：急煞、超速、分心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否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Geotab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駕駛自身風險與油耗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否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Lytx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以影像判定的駕駛自身風險行為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否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本專案構想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2A78D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駕駛對周圍車流造成的擾動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2A78D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是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差異的核心是</a:t>
            </a:r>
            <a:r>
              <a:rPr sz="1100" b="1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衡量對象</a:t>
            </a: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。這是一個既有市場裡尚未被佔據的位置。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AI 與資料分析的分工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09928"/>
            <a:ext cx="6035040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資料分析負責識別</a:t>
            </a:r>
            <a:r>
              <a:rPr sz="15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。配對、分層與穩健迴歸回答「有多大，以及是否為真」。這部分必須維持可解釋，因為會影響駕駛薪酬的評分必須能對駕駛解釋。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AI 延伸到三個分析到不了的地方</a:t>
            </a:r>
            <a:r>
              <a:rPr sz="15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規模化 — 本專案的偵測器需要每秒 10 筆的軌跡，真實車隊只有每秒 1 筆的消費級 GPS。以 NGSIM 為標註訓練資料可訓練序列模型。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逐事件反事實 — 直接預測那一台後車在沒有被切入時的速度。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行為發現 — 對軌跡分群，浮現沒有想過要假設的模式。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0920" y="1709928"/>
            <a:ext cx="4053535" cy="1563624"/>
          </a:xfrm>
          <a:prstGeom prst="rect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分析驗證 AI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以配對估計作為模型的驗證基準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0920" y="3529584"/>
            <a:ext cx="4053535" cy="1563624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為什麼必要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沒有這個檢查，模型是不可證偽的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落地路徑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350008"/>
            <a:ext cx="1586118" cy="21488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 bIns="18288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驗證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本地車隊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資料重估係數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564526" y="3342132"/>
            <a:ext cx="274320" cy="164592"/>
          </a:xfrm>
          <a:prstGeom prst="rightArrow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0014" y="2350008"/>
            <a:ext cx="1586118" cy="21488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 bIns="18288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偵測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訓練 1 Hz GPS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動作辨識模型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27300" y="3342132"/>
            <a:ext cx="274320" cy="164592"/>
          </a:xfrm>
          <a:prstGeom prst="rightArrow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2788" y="2350008"/>
            <a:ext cx="1586118" cy="21488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 bIns="18288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評分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產出駕駛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外部成本分數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90074" y="3342132"/>
            <a:ext cx="274320" cy="164592"/>
          </a:xfrm>
          <a:prstGeom prst="rightArrow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65562" y="2350008"/>
            <a:ext cx="1586118" cy="21488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 bIns="18288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輔導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針對高分事件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設計教練方案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352848" y="3342132"/>
            <a:ext cx="274320" cy="164592"/>
          </a:xfrm>
          <a:prstGeom prst="rightArrow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28336" y="2350008"/>
            <a:ext cx="1586118" cy="21488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 bIns="18288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閉環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重新量測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並更新模型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係數必須在本地資料重新估計。NGSIM 在這個架構中的角色是</a:t>
            </a:r>
            <a:r>
              <a:rPr sz="1100" b="1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有標註的訓練與驗證資料</a:t>
            </a: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，結論仍須由本地資料產生。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9748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工程品質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9476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讓這份分析可以被檢驗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測試與可重現性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09928"/>
            <a:ext cx="6035040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核心偵測邏輯有 </a:t>
            </a:r>
            <a:r>
              <a:rPr sz="15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22 項合成軌跡檢驗</a:t>
            </a:r>
            <a:r>
              <a:rPr sz="15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。測試資料是手工構造的，所以正確答案已知。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檢驗涵蓋：單格跳動、連續蛇行、注入固定減速幅度、不恢復的截斷標記、以及跨錄影批次的假換道。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完整流程重跑後，</a:t>
            </a:r>
            <a:r>
              <a: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每一個數字都相同</a:t>
            </a:r>
            <a:r>
              <a:rPr sz="15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，連 bootstrap 信賴區間到小數點後兩位都一致。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0920" y="1709928"/>
            <a:ext cx="4053535" cy="1563624"/>
          </a:xfrm>
          <a:prstGeom prst="rect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一鍵重跑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bash scripts/run_all.sh，約 15 分鐘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0920" y="3529584"/>
            <a:ext cx="4053535" cy="1563624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固定種子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20260919，保證 bootstrap 結果可重現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四個資料缺陷與發現過程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91056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這四個缺陷都會產出看起來完全正常的結果。其中三個在摘要統計上不可見。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2286000"/>
          <a:ext cx="10637213" cy="2651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02467"/>
                <a:gridCol w="6659821"/>
                <a:gridCol w="2774925"/>
              </a:tblGrid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缺陷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如何被發現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兩段錄影時間連續，批次切不開，88 個車號撞號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不相干的當機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D8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第一版對照組在整個視窗內平均加速 23%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2A78D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把曲線畫出來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D9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官方資料表含 704,000 筆完全重複的資料列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不相干的當機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D10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配對使用事後變數，結論正負號翻轉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2A78D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重新檢視因果順序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所有決策與錯誤共 11 條，全部寫入公開的決策日誌，包含被推翻的原始假設。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專案檔案結構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91056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編號腳本依序執行，每一步都寫出自己的日誌與中間產物。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2286000"/>
          <a:ext cx="10637214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29910"/>
                <a:gridCol w="7307304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路徑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</a:t>
                      </a:r>
                    </a:p>
                  </a:txBody>
                  <a:tcPr marL="109728" marR="109728" marT="45720" marB="45720" anchor="ctr">
                    <a:solidFill>
                      <a:srgbClr val="F6F6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scripts/01–04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下載、事件偵測、統計分析、圖表產出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src/ngsim.py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共用常數、載入器與單位換算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tests/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22 項合成軌跡檢驗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docs/decision-log.md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 條決策紀錄，含四個缺陷的來龍去脈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docs/methodology.md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完整方法論，逐一說明每個視窗與門檻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outputs/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圖表、結果表、results.json 與執行日誌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原始資料不進版本控制，由腳本重新下載，確保任何人取得的資料都相同。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42416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後續發展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91056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這份分析回答了一階問題，也明確標示出自己答不了的部分。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377440"/>
            <a:ext cx="3362858" cy="30632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1945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擾動的傳播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資料限制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單一後車、10 秒視窗量到的是一階效果。擾動是否向上游放大成連鎖壅塞，需要更長的觀測路段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4414418" y="2377440"/>
            <a:ext cx="3362858" cy="30632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1945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本地係數重估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方法移植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2005 年美國高速公路的車輛組成與 2026 年的營運環境不同。方法可移植，係數必須重新估計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8051596" y="2377440"/>
            <a:ext cx="3362858" cy="3063240"/>
          </a:xfrm>
          <a:prstGeom prst="rect">
            <a:avLst/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1945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低頻軌跡偵測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A78D6"/>
                </a:solidFill>
                <a:latin typeface="Microsoft JhengHei"/>
                <a:ea typeface="Microsoft JhengHei"/>
                <a:cs typeface="Microsoft JhengHei"/>
              </a:rPr>
              <a:t>AI 延伸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以 NGSIM 為標註資料，訓練模型在每秒 1 筆的消費級 GPS 上辨識同樣的駕駛動作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65176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變換車道的外部成本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56616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完整程式碼、決策日誌與方法論皆為開源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297680"/>
            <a:ext cx="2194560" cy="3175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資料來源 美國運輸部 NGSIM 公開資料　·　授權 程式 MIT，資料為美國政府公共領域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